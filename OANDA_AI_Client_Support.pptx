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993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64008" cy="23774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OANDA-Client Support AI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AI Agents for Next-Generation Customer Excellence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·  ANSWER  ·  VERIFY  ·  RATE  ·  IMPROVE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97280"/>
            <a:ext cx="1828800" cy="1828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60120" y="3566160"/>
            <a:ext cx="2560320" cy="320040"/>
          </a:xfrm>
          <a:prstGeom prst="rect">
            <a:avLst/>
          </a:prstGeom>
          <a:solidFill>
            <a:srgbClr val="0A1C11"/>
          </a:solidFill>
          <a:ln w="12700">
            <a:solidFill>
              <a:srgbClr val="0D4A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100584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</a:rPr>
              <a:t>March 2026  ·  AI Innovation Initiative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Bartek Góra — OANDA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E676"/>
                </a:solidFill>
              </a:rPr>
              <a:t>Why OANDA needs an AI-powered support network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651760" cy="3154680"/>
          </a:xfrm>
          <a:prstGeom prst="rect">
            <a:avLst/>
          </a:prstGeom>
          <a:solidFill>
            <a:srgbClr val="0A1C11"/>
          </a:solidFill>
          <a:ln w="1524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265176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4884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Inconsistent Answers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263347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</a:rPr>
              <a:t>Different support agents give different answers to the same question — reducing client trust and creating confusion at scale.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298448"/>
            <a:ext cx="2651760" cy="3154680"/>
          </a:xfrm>
          <a:prstGeom prst="rect">
            <a:avLst/>
          </a:prstGeom>
          <a:solidFill>
            <a:srgbClr val="0A1C11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00400" y="1298448"/>
            <a:ext cx="265176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508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14884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Slow Response Times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63347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</a:rPr>
              <a:t>Finding the right answer across help.oanda.com takes time. Clients expect instant, accurate responses 24/7.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53328" y="1298448"/>
            <a:ext cx="2651760" cy="3154680"/>
          </a:xfrm>
          <a:prstGeom prst="rect">
            <a:avLst/>
          </a:prstGeom>
          <a:solidFill>
            <a:srgbClr val="0A1C11"/>
          </a:solidFill>
          <a:ln w="1524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053328" y="1298448"/>
            <a:ext cx="265176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15087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3056" y="2148840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Improvement Loop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90488" y="263347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</a:rPr>
              <a:t>There's no systematic way to identify which support processes work well and which need improvement — until now.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6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OANDA-Client Support AI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oanda.com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4-Agent AI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E676"/>
                </a:solidFill>
              </a:rPr>
              <a:t>Every client query flows through four specialized AI agents in sequence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1920240" cy="3063240"/>
          </a:xfrm>
          <a:prstGeom prst="rect">
            <a:avLst/>
          </a:prstGeom>
          <a:solidFill>
            <a:srgbClr val="0A1C11"/>
          </a:solidFill>
          <a:ln w="1905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804672" y="1444752"/>
            <a:ext cx="822960" cy="822960"/>
          </a:xfrm>
          <a:prstGeom prst="ellipse">
            <a:avLst/>
          </a:prstGeom>
          <a:solidFill>
            <a:srgbClr val="071410"/>
          </a:solidFill>
          <a:ln w="190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1499616"/>
            <a:ext cx="713232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" y="1353312"/>
            <a:ext cx="292608" cy="29260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29260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9184" y="2340864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Agent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" y="279806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Scans all OANDA Help Center pages to find the most relevant content for each query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76272" y="2743200"/>
            <a:ext cx="256032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2359152" y="2688336"/>
            <a:ext cx="0" cy="1097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1"/>
          <p:cNvSpPr/>
          <p:nvPr/>
        </p:nvSpPr>
        <p:spPr>
          <a:xfrm>
            <a:off x="2432304" y="1298448"/>
            <a:ext cx="1920240" cy="3063240"/>
          </a:xfrm>
          <a:prstGeom prst="rect">
            <a:avLst/>
          </a:prstGeom>
          <a:solidFill>
            <a:srgbClr val="0A1C11"/>
          </a:solidFill>
          <a:ln w="1905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2"/>
          <p:cNvSpPr/>
          <p:nvPr/>
        </p:nvSpPr>
        <p:spPr>
          <a:xfrm>
            <a:off x="2980944" y="1444752"/>
            <a:ext cx="822960" cy="822960"/>
          </a:xfrm>
          <a:prstGeom prst="ellipse">
            <a:avLst/>
          </a:prstGeom>
          <a:solidFill>
            <a:srgbClr val="071410"/>
          </a:solidFill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1499616"/>
            <a:ext cx="713232" cy="7132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468880" y="1353312"/>
            <a:ext cx="292608" cy="29260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4"/>
          <p:cNvSpPr/>
          <p:nvPr/>
        </p:nvSpPr>
        <p:spPr>
          <a:xfrm>
            <a:off x="246888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505456" y="2340864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Agent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523744" y="279806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Synthesizes search results into a clear, accurate and client-ready response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52544" y="2743200"/>
            <a:ext cx="256032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18"/>
          <p:cNvSpPr/>
          <p:nvPr/>
        </p:nvSpPr>
        <p:spPr>
          <a:xfrm>
            <a:off x="4535424" y="2688336"/>
            <a:ext cx="0" cy="1097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19"/>
          <p:cNvSpPr/>
          <p:nvPr/>
        </p:nvSpPr>
        <p:spPr>
          <a:xfrm>
            <a:off x="4608576" y="1298448"/>
            <a:ext cx="1920240" cy="3063240"/>
          </a:xfrm>
          <a:prstGeom prst="rect">
            <a:avLst/>
          </a:prstGeom>
          <a:solidFill>
            <a:srgbClr val="0A1C11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20"/>
          <p:cNvSpPr/>
          <p:nvPr/>
        </p:nvSpPr>
        <p:spPr>
          <a:xfrm>
            <a:off x="5157216" y="1444752"/>
            <a:ext cx="822960" cy="822960"/>
          </a:xfrm>
          <a:prstGeom prst="ellipse">
            <a:avLst/>
          </a:prstGeom>
          <a:solidFill>
            <a:srgbClr val="071410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1499616"/>
            <a:ext cx="713232" cy="71323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645152" y="1353312"/>
            <a:ext cx="292608" cy="29260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2"/>
          <p:cNvSpPr/>
          <p:nvPr/>
        </p:nvSpPr>
        <p:spPr>
          <a:xfrm>
            <a:off x="4645152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681728" y="2340864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Agent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700016" y="279806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Cross-checks the answer for accuracy, compliance, and completeness before delivery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528816" y="2743200"/>
            <a:ext cx="256032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6"/>
          <p:cNvSpPr/>
          <p:nvPr/>
        </p:nvSpPr>
        <p:spPr>
          <a:xfrm>
            <a:off x="6711696" y="2688336"/>
            <a:ext cx="0" cy="1097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27"/>
          <p:cNvSpPr/>
          <p:nvPr/>
        </p:nvSpPr>
        <p:spPr>
          <a:xfrm>
            <a:off x="6784848" y="1298448"/>
            <a:ext cx="1920240" cy="3063240"/>
          </a:xfrm>
          <a:prstGeom prst="rect">
            <a:avLst/>
          </a:prstGeom>
          <a:solidFill>
            <a:srgbClr val="0A1C11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3" name="Shape 28"/>
          <p:cNvSpPr/>
          <p:nvPr/>
        </p:nvSpPr>
        <p:spPr>
          <a:xfrm>
            <a:off x="7333488" y="1444752"/>
            <a:ext cx="822960" cy="822960"/>
          </a:xfrm>
          <a:prstGeom prst="ellipse">
            <a:avLst/>
          </a:prstGeom>
          <a:solidFill>
            <a:srgbClr val="071410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1499616"/>
            <a:ext cx="713232" cy="71323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821424" y="1353312"/>
            <a:ext cx="292608" cy="29260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0"/>
          <p:cNvSpPr/>
          <p:nvPr/>
        </p:nvSpPr>
        <p:spPr>
          <a:xfrm>
            <a:off x="6821424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858000" y="2340864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Rating Agent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876288" y="2798064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Scores the support process 1–5 and recommends specific improvements for OANDA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Client Query  →  OANDA Help Center  →  Verified Answer  +  Process Rating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5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OANDA-Client Support AI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Pipeline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1-5 Process Rating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E676"/>
                </a:solidFill>
              </a:rPr>
              <a:t>Every support interaction is scored — and turned into actionable improvements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35024"/>
            <a:ext cx="493776" cy="493776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47472" y="1335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9264" y="1335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591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C8"/>
                </a:solidFill>
              </a:rPr>
              <a:t>Process is broken or missing. Immediate action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444752"/>
            <a:ext cx="4114800" cy="256032"/>
          </a:xfrm>
          <a:prstGeom prst="rect">
            <a:avLst/>
          </a:prstGeom>
          <a:solidFill>
            <a:srgbClr val="07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480560" y="1444752"/>
            <a:ext cx="713232" cy="256032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248656" y="14447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3D3D"/>
                </a:solidFill>
              </a:rPr>
              <a:t>20%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984248"/>
            <a:ext cx="493776" cy="49377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347472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9264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Needs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C8"/>
                </a:solidFill>
              </a:rPr>
              <a:t>Significant gaps. Confusing or incomplete for clients.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093976"/>
            <a:ext cx="4114800" cy="256032"/>
          </a:xfrm>
          <a:prstGeom prst="rect">
            <a:avLst/>
          </a:prstGeom>
          <a:solidFill>
            <a:srgbClr val="07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480560" y="2093976"/>
            <a:ext cx="1426464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961888" y="2093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8C00"/>
                </a:solidFill>
              </a:rPr>
              <a:t>40%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633472"/>
            <a:ext cx="493776" cy="4937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347472" y="26334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9264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" y="28895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C8"/>
                </a:solidFill>
              </a:rPr>
              <a:t>Functional but unimpressive. Clear room for improvement.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2743200"/>
            <a:ext cx="4114800" cy="256032"/>
          </a:xfrm>
          <a:prstGeom prst="rect">
            <a:avLst/>
          </a:prstGeom>
          <a:solidFill>
            <a:srgbClr val="07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4480560" y="2743200"/>
            <a:ext cx="2139696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675120" y="2743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D700"/>
                </a:solidFill>
              </a:rPr>
              <a:t>60%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3282696"/>
            <a:ext cx="493776" cy="493776"/>
          </a:xfrm>
          <a:prstGeom prst="rect">
            <a:avLst/>
          </a:prstGeom>
          <a:solidFill>
            <a:srgbClr val="7ED321"/>
          </a:solidFill>
          <a:ln w="12700">
            <a:solidFill>
              <a:srgbClr val="7ED32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47472" y="32826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9264" y="3282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D3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35387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C8"/>
                </a:solidFill>
              </a:rPr>
              <a:t>Above average. Minor tweaks would make it excellent.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3392424"/>
            <a:ext cx="4114800" cy="256032"/>
          </a:xfrm>
          <a:prstGeom prst="rect">
            <a:avLst/>
          </a:prstGeom>
          <a:solidFill>
            <a:srgbClr val="07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4480560" y="3392424"/>
            <a:ext cx="2852928" cy="256032"/>
          </a:xfrm>
          <a:prstGeom prst="rect">
            <a:avLst/>
          </a:prstGeom>
          <a:solidFill>
            <a:srgbClr val="7ED321"/>
          </a:solidFill>
          <a:ln w="12700">
            <a:solidFill>
              <a:srgbClr val="7ED32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7388352" y="33924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D321"/>
                </a:solidFill>
              </a:rPr>
              <a:t>80%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3931920"/>
            <a:ext cx="493776" cy="4937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347472" y="3931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69264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9264" y="4187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C8"/>
                </a:solidFill>
              </a:rPr>
              <a:t>Exceptional. A benchmark for all other processes to follow.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0560" y="4041648"/>
            <a:ext cx="4114800" cy="256032"/>
          </a:xfrm>
          <a:prstGeom prst="rect">
            <a:avLst/>
          </a:prstGeom>
          <a:solidFill>
            <a:srgbClr val="07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Shape 36"/>
          <p:cNvSpPr/>
          <p:nvPr/>
        </p:nvSpPr>
        <p:spPr>
          <a:xfrm>
            <a:off x="4480560" y="4041648"/>
            <a:ext cx="3566160" cy="2560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8101584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E676"/>
                </a:solidFill>
              </a:rPr>
              <a:t>100%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80560" y="1078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88888"/>
                </a:solidFill>
              </a:rPr>
              <a:t>Process Quality Score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OANDA-Client Support 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Building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E676"/>
                </a:solidFill>
              </a:rPr>
              <a:t>Claude Code writes each module — from Asana task to working GitHub Pull Request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651760" cy="3154680"/>
          </a:xfrm>
          <a:prstGeom prst="rect">
            <a:avLst/>
          </a:prstGeom>
          <a:solidFill>
            <a:srgbClr val="0A1C11"/>
          </a:solidFill>
          <a:ln w="1524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2651760" cy="384048"/>
          </a:xfrm>
          <a:prstGeom prst="rect">
            <a:avLst/>
          </a:prstGeom>
          <a:solidFill>
            <a:srgbClr val="071410"/>
          </a:solidFill>
          <a:ln w="12700">
            <a:solidFill>
              <a:srgbClr val="07141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35331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7556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&amp; Architecture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" y="2450592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640080" y="23225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Map OANDA Help Center structure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4632" y="3026664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640080" y="2898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Design multi-agent communication flow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" y="3602736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64008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Select tech stack: LangGraph + Claude API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0" y="1298448"/>
            <a:ext cx="2651760" cy="3154680"/>
          </a:xfrm>
          <a:prstGeom prst="rect">
            <a:avLst/>
          </a:prstGeom>
          <a:solidFill>
            <a:srgbClr val="0A1C11"/>
          </a:solidFill>
          <a:ln w="1524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4"/>
          <p:cNvSpPr/>
          <p:nvPr/>
        </p:nvSpPr>
        <p:spPr>
          <a:xfrm>
            <a:off x="3200400" y="1298448"/>
            <a:ext cx="2651760" cy="384048"/>
          </a:xfrm>
          <a:prstGeom prst="rect">
            <a:avLst/>
          </a:prstGeom>
          <a:solidFill>
            <a:srgbClr val="071410"/>
          </a:solidFill>
          <a:ln w="12700">
            <a:solidFill>
              <a:srgbClr val="07141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5"/>
          <p:cNvSpPr/>
          <p:nvPr/>
        </p:nvSpPr>
        <p:spPr>
          <a:xfrm>
            <a:off x="3310128" y="1307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35331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10128" y="17556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the 4 Agents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37560" y="2450592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18"/>
          <p:cNvSpPr/>
          <p:nvPr/>
        </p:nvSpPr>
        <p:spPr>
          <a:xfrm>
            <a:off x="3493008" y="23225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Search Agent — help.oanda.com crawler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337560" y="3026664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0"/>
          <p:cNvSpPr/>
          <p:nvPr/>
        </p:nvSpPr>
        <p:spPr>
          <a:xfrm>
            <a:off x="3493008" y="2898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Answer Agent — LLM response synthesis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337560" y="3602736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2"/>
          <p:cNvSpPr/>
          <p:nvPr/>
        </p:nvSpPr>
        <p:spPr>
          <a:xfrm>
            <a:off x="3493008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Verify &amp; Rating Agent — 1-5 scorer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053328" y="1298448"/>
            <a:ext cx="2651760" cy="3154680"/>
          </a:xfrm>
          <a:prstGeom prst="rect">
            <a:avLst/>
          </a:prstGeom>
          <a:solidFill>
            <a:srgbClr val="0A1C11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8" name="Shape 24"/>
          <p:cNvSpPr/>
          <p:nvPr/>
        </p:nvSpPr>
        <p:spPr>
          <a:xfrm>
            <a:off x="6053328" y="1298448"/>
            <a:ext cx="2651760" cy="384048"/>
          </a:xfrm>
          <a:prstGeom prst="rect">
            <a:avLst/>
          </a:prstGeom>
          <a:solidFill>
            <a:srgbClr val="071410"/>
          </a:solidFill>
          <a:ln w="12700">
            <a:solidFill>
              <a:srgbClr val="07141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5"/>
          <p:cNvSpPr/>
          <p:nvPr/>
        </p:nvSpPr>
        <p:spPr>
          <a:xfrm>
            <a:off x="6163056" y="1307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1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1353312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163056" y="17556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&amp; Ship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190488" y="2450592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28"/>
          <p:cNvSpPr/>
          <p:nvPr/>
        </p:nvSpPr>
        <p:spPr>
          <a:xfrm>
            <a:off x="6345936" y="23225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Run 50 real client queries through pipeline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190488" y="3026664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0"/>
          <p:cNvSpPr/>
          <p:nvPr/>
        </p:nvSpPr>
        <p:spPr>
          <a:xfrm>
            <a:off x="6345936" y="2898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A/B test AI vs. manual support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190488" y="3602736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2"/>
          <p:cNvSpPr/>
          <p:nvPr/>
        </p:nvSpPr>
        <p:spPr>
          <a:xfrm>
            <a:off x="6345936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C8"/>
                </a:solidFill>
              </a:rPr>
              <a:t>Open GitHub Pull Request with full code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4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OANDA-Client Support AI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Today's Roadmap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Workflow: Asana → Claude Code → GitHub PR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E676"/>
                </a:solidFill>
              </a:rPr>
              <a:t>A fully automated AI-driven pipeline — from task description to merged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651760" cy="1463040"/>
          </a:xfrm>
          <a:prstGeom prst="rect">
            <a:avLst/>
          </a:prstGeom>
          <a:solidFill>
            <a:srgbClr val="0A1C11"/>
          </a:solidFill>
          <a:ln w="15240">
            <a:solidFill>
              <a:srgbClr val="F06292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64008" cy="146304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140817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389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629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" y="1901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Asana Task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" y="22494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Select a task from the OANDA-Client Support project in Asana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298448"/>
            <a:ext cx="2651760" cy="1463040"/>
          </a:xfrm>
          <a:prstGeom prst="rect">
            <a:avLst/>
          </a:prstGeom>
          <a:solidFill>
            <a:srgbClr val="0A1C11"/>
          </a:solidFill>
          <a:ln w="1524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9"/>
          <p:cNvSpPr/>
          <p:nvPr/>
        </p:nvSpPr>
        <p:spPr>
          <a:xfrm>
            <a:off x="3200400" y="1298448"/>
            <a:ext cx="64008" cy="1463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1408176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85616" y="1389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64992" y="1901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Reads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64992" y="22494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Claude Code reads the task description and understands the full requirements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53328" y="1298448"/>
            <a:ext cx="2651760" cy="1463040"/>
          </a:xfrm>
          <a:prstGeom prst="rect">
            <a:avLst/>
          </a:prstGeom>
          <a:solidFill>
            <a:srgbClr val="0A1C11"/>
          </a:solidFill>
          <a:ln w="15240">
            <a:solidFill>
              <a:srgbClr val="1DB95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4"/>
          <p:cNvSpPr/>
          <p:nvPr/>
        </p:nvSpPr>
        <p:spPr>
          <a:xfrm>
            <a:off x="6053328" y="1298448"/>
            <a:ext cx="64008" cy="1463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1408176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8544" y="1389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17920" y="1901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is Written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17920" y="22494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Claude Code writes the implementation — agents, tests, and documentation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47472" y="2926080"/>
            <a:ext cx="2651760" cy="1463040"/>
          </a:xfrm>
          <a:prstGeom prst="rect">
            <a:avLst/>
          </a:prstGeom>
          <a:solidFill>
            <a:srgbClr val="0A1C11"/>
          </a:solidFill>
          <a:ln w="15240">
            <a:solidFill>
              <a:srgbClr val="FFD7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19"/>
          <p:cNvSpPr/>
          <p:nvPr/>
        </p:nvSpPr>
        <p:spPr>
          <a:xfrm>
            <a:off x="347472" y="2926080"/>
            <a:ext cx="64008" cy="14630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303580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" y="30175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12064" y="3529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Branch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12064" y="38770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A feature branch is automatically created with the Asana task name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0" y="2926080"/>
            <a:ext cx="2651760" cy="1463040"/>
          </a:xfrm>
          <a:prstGeom prst="rect">
            <a:avLst/>
          </a:prstGeom>
          <a:solidFill>
            <a:srgbClr val="0A1C11"/>
          </a:solidFill>
          <a:ln w="15240">
            <a:solidFill>
              <a:srgbClr val="00BCD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4"/>
          <p:cNvSpPr/>
          <p:nvPr/>
        </p:nvSpPr>
        <p:spPr>
          <a:xfrm>
            <a:off x="3200400" y="2926080"/>
            <a:ext cx="64008" cy="1463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704" y="3035808"/>
            <a:ext cx="420624" cy="4206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85616" y="30175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364992" y="3529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364992" y="38770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Claude Code runs and fixes tests until all green before opening PR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53328" y="2926080"/>
            <a:ext cx="2651760" cy="1463040"/>
          </a:xfrm>
          <a:prstGeom prst="rect">
            <a:avLst/>
          </a:prstGeom>
          <a:solidFill>
            <a:srgbClr val="0A1C11"/>
          </a:solidFill>
          <a:ln w="1524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29"/>
          <p:cNvSpPr/>
          <p:nvPr/>
        </p:nvSpPr>
        <p:spPr>
          <a:xfrm>
            <a:off x="6053328" y="2926080"/>
            <a:ext cx="64008" cy="1463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035808"/>
            <a:ext cx="420624" cy="42062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38544" y="30175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217920" y="3529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 Opened ✓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217920" y="38770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Pull Request opened on GitHub, linked to Asana task — ready for review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34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OANDA-Client Support AI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Dev Workflow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OANDA's AI Competitive Advantage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E676"/>
                </a:solidFill>
              </a:rPr>
              <a:t>Why this positions OANDA a step ahead of every competitor in the Forex market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749040" cy="3200400"/>
          </a:xfrm>
          <a:prstGeom prst="rect">
            <a:avLst/>
          </a:prstGeom>
          <a:solidFill>
            <a:srgbClr val="0A1C11"/>
          </a:solidFill>
          <a:ln w="254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438912"/>
          </a:xfrm>
          <a:prstGeom prst="rect">
            <a:avLst/>
          </a:prstGeom>
          <a:solidFill>
            <a:srgbClr val="071410"/>
          </a:solidFill>
          <a:ln w="12700">
            <a:solidFill>
              <a:srgbClr val="07141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OANDA  +  AI Agents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188366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✓  Instant, consistent answers 24 / 7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235915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✓  Every process scored &amp; improved continuously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064" y="28346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✓  AI-generated, always up-to-date documentation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" y="331012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✓  Proactive improvement roadmap from real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378561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✓  Scales to millions of queries without extra cost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0" y="26517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0" y="1298448"/>
            <a:ext cx="3749040" cy="3200400"/>
          </a:xfrm>
          <a:prstGeom prst="rect">
            <a:avLst/>
          </a:prstGeom>
          <a:solidFill>
            <a:srgbClr val="080808"/>
          </a:solidFill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5029200" y="1298448"/>
            <a:ext cx="374904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5120640" y="13075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Competitors  (Manual Support)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38928" y="188366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</a:rPr>
              <a:t>✗  Inconsistent, slow responses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38928" y="235915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</a:rPr>
              <a:t>✗  No systematic process 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38928" y="28346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</a:rPr>
              <a:t>✗  Outdated static documentation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38928" y="331012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</a:rPr>
              <a:t>✗  Reactive, not proactive support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38928" y="378561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</a:rPr>
              <a:t>✗  Scales linearly with headcount cost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OANDA-Client Support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Competitive Position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0" y="3931920"/>
            <a:ext cx="9144000" cy="0"/>
          </a:xfrm>
          <a:prstGeom prst="line">
            <a:avLst/>
          </a:prstGeom>
          <a:noFill/>
          <a:ln w="5080">
            <a:solidFill>
              <a:srgbClr val="00E67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64008" cy="28346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 Future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OANDA Customer Support.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60120" y="28529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8C8"/>
                </a:solidFill>
              </a:rPr>
              <a:t>Today: Asana  →  Claude Code  →  GitHub PR  →  Production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364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88888"/>
                </a:solidFill>
              </a:rPr>
              <a:t>AI 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3364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337560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88888"/>
                </a:solidFill>
              </a:rPr>
              <a:t>Rating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3364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715000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88888"/>
                </a:solidFill>
              </a:rPr>
              <a:t>Improvements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005840"/>
            <a:ext cx="1554480" cy="15544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60E09"/>
          </a:solidFill>
          <a:ln w="12700">
            <a:solidFill>
              <a:srgbClr val="060E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6"/>
          <p:cNvSpPr/>
          <p:nvPr/>
        </p:nvSpPr>
        <p:spPr>
          <a:xfrm>
            <a:off x="36576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OANDA-Client Support AI  ·  March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206240" y="46863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676"/>
                </a:solidFill>
              </a:rPr>
              <a:t>Built with Claude Code + Asana + GitHub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Macintosh PowerPoint</Application>
  <PresentationFormat>Pokaz na ekranie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OANDA-Client Support AI</dc:title>
  <dc:subject>PptxGenJS Presentation</dc:subject>
  <dc:creator>PptxGenJS</dc:creator>
  <cp:lastModifiedBy>Bartosz Góra</cp:lastModifiedBy>
  <cp:revision>1</cp:revision>
  <dcterms:created xsi:type="dcterms:W3CDTF">2026-03-19T10:54:21Z</dcterms:created>
  <dcterms:modified xsi:type="dcterms:W3CDTF">2026-03-19T10:55:44Z</dcterms:modified>
</cp:coreProperties>
</file>